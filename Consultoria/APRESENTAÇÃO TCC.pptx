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Proxima Nova"/>
      <p:regular r:id="rId20"/>
      <p:bold r:id="rId21"/>
      <p:italic r:id="rId22"/>
      <p:boldItalic r:id="rId23"/>
    </p:embeddedFont>
    <p:embeddedFont>
      <p:font typeface="Alfa Slab One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5" roundtripDataSignature="AMtx7mgMBRP7uS/36h7cFCqacfDx3OZT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regular.fntdata"/><Relationship Id="rId22" Type="http://schemas.openxmlformats.org/officeDocument/2006/relationships/font" Target="fonts/ProximaNova-italic.fntdata"/><Relationship Id="rId21" Type="http://schemas.openxmlformats.org/officeDocument/2006/relationships/font" Target="fonts/ProximaNova-bold.fntdata"/><Relationship Id="rId24" Type="http://schemas.openxmlformats.org/officeDocument/2006/relationships/font" Target="fonts/AlfaSlabOne-regular.fntdata"/><Relationship Id="rId23" Type="http://schemas.openxmlformats.org/officeDocument/2006/relationships/font" Target="fonts/ProximaNova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Júlia, temos que listar quais são as avaliações que queremos que os estatísticos façam, é isso que eles vão querer saber.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1ª classificar o número de pacientes em cada tipo de DII: RCU/CROHN/não classificada 🡪 os pacientes com VEOIBD você também classificou nessas três categorias, certo?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2ª calcular a média de idade no primeiro atendimento no nosso serviço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3ª Identificar a classificação por sexo na nossa amostra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4ª classificar os atendimentos anteriores por grupos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5ª Quais categorias teremos na variável tipo de manifestação clínica: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Enterorragia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Diarreia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Febre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Dor abdominal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Perda de peso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E QUANTO À ASSOCIAÇÃO DE DOIS OU MAIS???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6ª Identificar o número absoluto de cada tipo de manifestação clínica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a23ca9ee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fa23ca9ee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15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15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15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20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2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" name="Google Shape;38;p22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22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22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2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3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4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24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b="0" i="0" sz="18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pt-BR"/>
              <a:t>Júlia Jodjahn Figueiredo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pt-BR"/>
              <a:t>Orientadora: Dra Elizete Aparecida Lomazi</a:t>
            </a:r>
            <a:endParaRPr/>
          </a:p>
        </p:txBody>
      </p:sp>
      <p:sp>
        <p:nvSpPr>
          <p:cNvPr id="57" name="Google Shape;57;p1"/>
          <p:cNvSpPr txBox="1"/>
          <p:nvPr>
            <p:ph type="ctrTitle"/>
          </p:nvPr>
        </p:nvSpPr>
        <p:spPr>
          <a:xfrm>
            <a:off x="311700" y="1458375"/>
            <a:ext cx="85206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pt-BR" sz="2000">
                <a:solidFill>
                  <a:srgbClr val="00B050"/>
                </a:solidFill>
              </a:rPr>
              <a:t>Apresentação clínica e tempo até o diagnóstico da Doença Inflamatória Intestinal pediátrica</a:t>
            </a:r>
            <a:endParaRPr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Introdução</a:t>
            </a:r>
            <a:endParaRPr/>
          </a:p>
        </p:txBody>
      </p:sp>
      <p:sp>
        <p:nvSpPr>
          <p:cNvPr id="63" name="Google Shape;63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/>
              <a:t>Doença crônica e imunomediada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pt-BR"/>
              <a:t>Inclui Doença de Crohn (DC) e Colite Ulcerativa (CU)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pt-BR"/>
              <a:t>Aproximadamente 10-</a:t>
            </a:r>
            <a:r>
              <a:rPr lang="pt-BR">
                <a:solidFill>
                  <a:srgbClr val="00B050"/>
                </a:solidFill>
              </a:rPr>
              <a:t>20</a:t>
            </a:r>
            <a:r>
              <a:rPr lang="pt-BR"/>
              <a:t>% dos casos iniciam na infância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pt-BR"/>
              <a:t>Incidência pediátrica em crescimento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pt-BR"/>
              <a:t>Sintomas mais frequentes: Dor abdominal; Diarreia; Fezes com sangue; Perda ponderal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Introdução</a:t>
            </a:r>
            <a:endParaRPr/>
          </a:p>
        </p:txBody>
      </p:sp>
      <p:sp>
        <p:nvSpPr>
          <p:cNvPr id="69" name="Google Shape;69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pt-BR"/>
              <a:t>O diagnóstico pode ser dificultado pela heterogeneidade das manifestações clínicas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lang="pt-BR"/>
              <a:t>Atraso diagnóstico mediano: DC: 4–5 meses; CU: 2–3 meses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lang="pt-BR"/>
              <a:t>Acometimento ileal → menor frequência de sintomas de alarme → maior risco de atraso diagnóstico.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lang="pt-BR"/>
              <a:t>O atraso envolve dois períodos: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lang="pt-BR"/>
              <a:t>        Início dos sintomas → primeira consulta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lang="pt-BR"/>
              <a:t>        Primeira consulta → diagnóstico endoscópico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lang="pt-BR"/>
              <a:t>Sintomas inespecíficos e formas leves podem retardar a procura por atendimento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17647"/>
              <a:buNone/>
            </a:pPr>
            <a:r>
              <a:rPr lang="pt-BR"/>
              <a:t>Barreiras de acesso à saúde também podem contribuir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Justificativa</a:t>
            </a:r>
            <a:endParaRPr/>
          </a:p>
        </p:txBody>
      </p:sp>
      <p:sp>
        <p:nvSpPr>
          <p:cNvPr id="75" name="Google Shape;75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pt-BR">
                <a:solidFill>
                  <a:srgbClr val="666666"/>
                </a:solidFill>
              </a:rPr>
              <a:t>A DII pediátrica apresenta manifestações clínicas heterogêneas e inespecíficas, dificultando o reconhecimento precoce.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lang="pt-BR">
                <a:solidFill>
                  <a:srgbClr val="666666"/>
                </a:solidFill>
              </a:rPr>
              <a:t>O atraso diagnóstico pode favorecer complicações, comprometimento do crescimento e desenvolvimento puberal e necessidade de terapias mais agressivas.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lang="pt-BR">
                <a:solidFill>
                  <a:srgbClr val="666666"/>
                </a:solidFill>
              </a:rPr>
              <a:t>Dados nacionais os sobre a relação entre manifestações clínicas iniciais e tempo até o diagnóstico endoscópico são escassos.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lang="pt-BR">
                <a:solidFill>
                  <a:srgbClr val="666666"/>
                </a:solidFill>
              </a:rPr>
              <a:t>Avaliar essa relação em um serviço terciário de referência pode contribuir para o reconhecimento de sinais de alerta e permitir encaminhamento precoce para exames diagnósticos.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17647"/>
              <a:buNone/>
            </a:pPr>
            <a:r>
              <a:rPr lang="pt-BR">
                <a:solidFill>
                  <a:srgbClr val="666666"/>
                </a:solidFill>
              </a:rPr>
              <a:t>Identificar padrões clínicos associados ao atraso diagnóstico pode contribuir para melhorar o cuidado e o prognóstico desses pacientes.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Objetivos</a:t>
            </a:r>
            <a:endParaRPr/>
          </a:p>
        </p:txBody>
      </p:sp>
      <p:sp>
        <p:nvSpPr>
          <p:cNvPr id="81" name="Google Shape;81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/>
              <a:t>Objetivo geral: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pt-BR"/>
              <a:t>Analisar a relação entre as manifestações clínicas iniciais e o tempo até o diagnóstico da Doença Inflamatória Intestinal em pacientes pediátricos atendidos no ambulatório de gastroenterologia pediátrica d</a:t>
            </a:r>
            <a:r>
              <a:rPr lang="pt-BR">
                <a:solidFill>
                  <a:srgbClr val="00B050"/>
                </a:solidFill>
              </a:rPr>
              <a:t>o HC</a:t>
            </a:r>
            <a:r>
              <a:rPr lang="pt-BR"/>
              <a:t> UNICAMP.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Objetivos</a:t>
            </a:r>
            <a:endParaRPr/>
          </a:p>
        </p:txBody>
      </p:sp>
      <p:sp>
        <p:nvSpPr>
          <p:cNvPr id="87" name="Google Shape;87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/>
              <a:t>Objetivos específicos:</a:t>
            </a:r>
            <a:endParaRPr/>
          </a:p>
          <a:p>
            <a:pPr indent="-334328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Identificar as principais manifestações clínicas iniciais referidas pelos pacientes;</a:t>
            </a:r>
            <a:endParaRPr/>
          </a:p>
          <a:p>
            <a:pPr indent="-33432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Determinar o intervalo de tempo entre o início dos sintomas e o diagnóstico da Doença Inflamatória Intestinal;</a:t>
            </a:r>
            <a:endParaRPr/>
          </a:p>
          <a:p>
            <a:pPr indent="-33432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Analisar a associação entre tipos de manifestações clínicas iniciais (intestinais ou extraintestinais) e o tempo até o diagnóstico;</a:t>
            </a:r>
            <a:endParaRPr/>
          </a:p>
          <a:p>
            <a:pPr indent="-33432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Comparar o tempo até o diagnóstico entre Doença de Crohn e Retocolite Ulcerativa;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Metodologia</a:t>
            </a:r>
            <a:endParaRPr/>
          </a:p>
        </p:txBody>
      </p:sp>
      <p:sp>
        <p:nvSpPr>
          <p:cNvPr id="93" name="Google Shape;93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/>
              <a:t>Desenho do estudo: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pt-BR"/>
              <a:t>Trata-se de um estudo retrospectivo, observacional e analítico, realizado a partir da análise de dados de prontuários médicos de pacientes pediátricos com diagnóstico de Doença Inflamatória Intestinal (DII), acompanhados em ambulatório terciário de gastroenterologia pediátrica.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Metodologia</a:t>
            </a:r>
            <a:endParaRPr/>
          </a:p>
        </p:txBody>
      </p:sp>
      <p:sp>
        <p:nvSpPr>
          <p:cNvPr id="99" name="Google Shape;99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/>
              <a:t>Local do estudo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pt-BR"/>
              <a:t>O estudo foi conduzido no Ambulatório de Gastroenterologia Pediátrica da UNICAMP, serviço de referência terciária para o acompanhamento de pacientes com doenças gastrointestinais crônicas na infância e adolescência.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Metodologia</a:t>
            </a:r>
            <a:endParaRPr/>
          </a:p>
        </p:txBody>
      </p:sp>
      <p:sp>
        <p:nvSpPr>
          <p:cNvPr id="105" name="Google Shape;105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/>
              <a:t>População e amostra: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pt-BR"/>
              <a:t>Foram incluídos pacientes pediátricos, definidos como indivíduos com idade inferior a 18 anos no momento do diagnóstico, com diagnóstico de Doença Inflamatória Intestinal, incluindo Colite não especificada, Doença de Crohn e Retocolite Ulcerativa, acompanhados no referido ambulatório.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pt-BR"/>
              <a:t>A amostra foi composta por 103 pacientes que mantinham seguimento ativo no ambulatório de gastroenterologia pediátrica até o ano de 2026.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Metodologia</a:t>
            </a:r>
            <a:endParaRPr/>
          </a:p>
        </p:txBody>
      </p:sp>
      <p:sp>
        <p:nvSpPr>
          <p:cNvPr id="111" name="Google Shape;111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pt-BR"/>
              <a:t>Critérios de inclusão: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Char char="-"/>
            </a:pPr>
            <a:r>
              <a:rPr lang="pt-BR"/>
              <a:t>Foram incluídos no estudo pacientes que preencheram os seguintes critérios: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Char char="-"/>
            </a:pPr>
            <a:r>
              <a:rPr lang="pt-BR"/>
              <a:t>Idade inferior a 18 anos no momento do diagnóstico;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Char char="-"/>
            </a:pPr>
            <a:r>
              <a:rPr lang="pt-BR"/>
              <a:t>Diagnóstico de Doença Inflamatória Intestinal confirmado por colonoscopia e/ou endoscopia digestiva alta com biópsia;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Char char="-"/>
            </a:pPr>
            <a:r>
              <a:rPr lang="pt-BR"/>
              <a:t>Acompanhamento no ambulatório de gastroenterologia pediátrica da UNICAMP;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Char char="-"/>
            </a:pPr>
            <a:r>
              <a:rPr lang="pt-BR"/>
              <a:t>Disponibilidade de dados clínicos suficientes nos prontuários para análise das manifestações clínicas iniciais e das datas de início dos sintomas e do diagnóstico.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08108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Metodologia</a:t>
            </a:r>
            <a:endParaRPr/>
          </a:p>
        </p:txBody>
      </p:sp>
      <p:sp>
        <p:nvSpPr>
          <p:cNvPr id="117" name="Google Shape;117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/>
              <a:t>Critérios de exclusão: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Serão excluídos pacientes com prontuários incompletos, que não permitam a determinação do intervalo entre o início das manifestações clínicas e o diagnóstico, bem como aqueles cujo diagnóstico não foi confirmado por avaliação endoscópica/colonoscópica com biópsia.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Metodologia</a:t>
            </a:r>
            <a:endParaRPr/>
          </a:p>
        </p:txBody>
      </p:sp>
      <p:sp>
        <p:nvSpPr>
          <p:cNvPr id="123" name="Google Shape;123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pt-BR"/>
              <a:t>A coleta de dados foi realizada por meio da revisão dos prontuários médicos, utilizando formulário padronizado previamente elaborado. Foram coletadas as seguintes variáveis:</a:t>
            </a:r>
            <a:endParaRPr/>
          </a:p>
          <a:p>
            <a:pPr indent="-334328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Dados demográficos: idade no momento do diagnóstico e sexo. </a:t>
            </a:r>
            <a:endParaRPr/>
          </a:p>
          <a:p>
            <a:pPr indent="-33432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Tipo de Doença Inflamatória Intestinal (Colite Indeterminada, Doença de Crohn ou Retocolite Ulcerativa);</a:t>
            </a:r>
            <a:endParaRPr/>
          </a:p>
          <a:p>
            <a:pPr indent="-33432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Manifestações clínicas iniciais, incluindo sintomas intestinais e extraintestinais;</a:t>
            </a:r>
            <a:endParaRPr/>
          </a:p>
          <a:p>
            <a:pPr indent="-33432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Perda ponderal ou atraso no desenvolvimento previamente ao diagnóstico</a:t>
            </a:r>
            <a:endParaRPr/>
          </a:p>
          <a:p>
            <a:pPr indent="-33432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Idade de início dos sintomas;</a:t>
            </a:r>
            <a:endParaRPr/>
          </a:p>
          <a:p>
            <a:pPr indent="-33432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Atendimentos anteriores ao diagnóstico;</a:t>
            </a:r>
            <a:endParaRPr/>
          </a:p>
          <a:p>
            <a:pPr indent="-33432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Intervalo de tempo entre o início dos sintomas e a primeira colonoscopia;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17647"/>
              <a:buNone/>
            </a:pPr>
            <a:r>
              <a:rPr lang="pt-BR"/>
              <a:t>O tempo até o diagnóstico foi definido como o intervalo, em meses, entre a data de início das manifestações clínicas iniciais e a data do diagnóstico definitivo da doença.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994100"/>
            <a:ext cx="8839201" cy="3155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a23ca9ee1_1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desejamos avaliar:</a:t>
            </a:r>
            <a:endParaRPr/>
          </a:p>
        </p:txBody>
      </p:sp>
      <p:sp>
        <p:nvSpPr>
          <p:cNvPr id="134" name="Google Shape;134;g3fa23ca9ee1_1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→ C</a:t>
            </a:r>
            <a:r>
              <a:rPr lang="pt-BR"/>
              <a:t>lassificar o número de pacientes em cada tipo de DII: RCU/CROHN/não classificada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→ Calcular a média de idade no primeiro atendimento no nosso serviço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→ Identificar a classificação por sexo na nossa amostra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→ Classificar os atendimentos anteriores por grupos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→  Principal manifestação clínica inicial e se há associação ou não com perda ponderal ou outros sintomas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→ Identificar o número absoluto de cada tipo de manifestação clínica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